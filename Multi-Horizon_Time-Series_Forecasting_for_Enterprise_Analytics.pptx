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7" r:id="rId3"/>
    <p:sldId id="257" r:id="rId4"/>
    <p:sldId id="266" r:id="rId5"/>
    <p:sldId id="261" r:id="rId6"/>
    <p:sldId id="268" r:id="rId7"/>
    <p:sldId id="269" r:id="rId8"/>
    <p:sldId id="258" r:id="rId9"/>
    <p:sldId id="260"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6AD262E-AE8D-4AF3-B4BC-021EA607885F}"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D262E-AE8D-4AF3-B4BC-021EA607885F}"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AD262E-AE8D-4AF3-B4BC-021EA607885F}"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AD262E-AE8D-4AF3-B4BC-021EA607885F}" type="datetimeFigureOut">
              <a:rPr lang="en-US" smtClean="0"/>
              <a:pPr/>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AD262E-AE8D-4AF3-B4BC-021EA607885F}" type="datetimeFigureOut">
              <a:rPr lang="en-US" smtClean="0"/>
              <a:pPr/>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AD262E-AE8D-4AF3-B4BC-021EA607885F}" type="datetimeFigureOut">
              <a:rPr lang="en-US" smtClean="0"/>
              <a:pPr/>
              <a:t>8/12/2026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AD262E-AE8D-4AF3-B4BC-021EA607885F}" type="datetimeFigureOut">
              <a:rPr lang="en-US" smtClean="0"/>
              <a:pPr/>
              <a:t>8/12/2026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D262E-AE8D-4AF3-B4BC-021EA607885F}" type="datetimeFigureOut">
              <a:rPr lang="en-US" smtClean="0"/>
              <a:pPr/>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D262E-AE8D-4AF3-B4BC-021EA607885F}" type="datetimeFigureOut">
              <a:rPr lang="en-US" smtClean="0"/>
              <a:pPr/>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D262E-AE8D-4AF3-B4BC-021EA607885F}"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D262E-AE8D-4AF3-B4BC-021EA607885F}" type="datetimeFigureOut">
              <a:rPr lang="en-US" smtClean="0"/>
              <a:pPr/>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AD262E-AE8D-4AF3-B4BC-021EA607885F}" type="datetimeFigureOut">
              <a:rPr lang="en-US" smtClean="0"/>
              <a:pPr/>
              <a:t>8/12/2026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3299CE-E3FD-4D3E-9765-08F1080A672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03142"/>
            <a:ext cx="7772400" cy="1849658"/>
          </a:xfrm>
        </p:spPr>
        <p:txBody>
          <a:bodyPr>
            <a:normAutofit fontScale="90000"/>
          </a:bodyPr>
          <a:lstStyle/>
          <a:p>
            <a:r>
              <a:rPr lang="en-US" sz="3600" b="1" dirty="0"/>
              <a:t>Multi-Scale Weather Forecasting Using Deep Learning Architectures With Chennai Climate Data</a:t>
            </a:r>
            <a:br>
              <a:rPr lang="en-US" b="1" dirty="0"/>
            </a:br>
            <a:r>
              <a:rPr lang="en-US" sz="3100" b="1" dirty="0"/>
              <a:t>Department of CSE(AI and ML)</a:t>
            </a:r>
            <a:endParaRPr lang="en-US" sz="31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3816626"/>
            <a:ext cx="4191000" cy="1066800"/>
          </a:xfrm>
        </p:spPr>
        <p:txBody>
          <a:bodyPr>
            <a:normAutofit fontScale="62500" lnSpcReduction="20000"/>
          </a:bodyPr>
          <a:lstStyle/>
          <a:p>
            <a:pPr algn="l"/>
            <a:r>
              <a:rPr lang="en-US" sz="2900" dirty="0">
                <a:solidFill>
                  <a:schemeClr val="tx1"/>
                </a:solidFill>
                <a:latin typeface="Times New Roman" panose="02020603050405020304" pitchFamily="18" charset="0"/>
                <a:cs typeface="Times New Roman" panose="02020603050405020304" pitchFamily="18" charset="0"/>
              </a:rPr>
              <a:t>Team 15:  1. </a:t>
            </a:r>
            <a:r>
              <a:rPr lang="en-US" sz="2900" dirty="0" err="1">
                <a:solidFill>
                  <a:schemeClr val="tx1"/>
                </a:solidFill>
                <a:latin typeface="Times New Roman" panose="02020603050405020304" pitchFamily="18" charset="0"/>
                <a:cs typeface="Times New Roman" panose="02020603050405020304" pitchFamily="18" charset="0"/>
              </a:rPr>
              <a:t>B.Ashritha</a:t>
            </a:r>
            <a:r>
              <a:rPr lang="en-US" sz="2900" dirty="0">
                <a:solidFill>
                  <a:schemeClr val="tx1"/>
                </a:solidFill>
                <a:latin typeface="Times New Roman" panose="02020603050405020304" pitchFamily="18" charset="0"/>
                <a:cs typeface="Times New Roman" panose="02020603050405020304" pitchFamily="18" charset="0"/>
              </a:rPr>
              <a:t>       (23R01A6671)</a:t>
            </a:r>
          </a:p>
          <a:p>
            <a:pPr algn="l"/>
            <a:r>
              <a:rPr lang="en-US" sz="2900" dirty="0">
                <a:solidFill>
                  <a:schemeClr val="tx1"/>
                </a:solidFill>
                <a:latin typeface="Times New Roman" panose="02020603050405020304" pitchFamily="18" charset="0"/>
                <a:cs typeface="Times New Roman" panose="02020603050405020304" pitchFamily="18" charset="0"/>
              </a:rPr>
              <a:t>                 2. </a:t>
            </a:r>
            <a:r>
              <a:rPr lang="en-US" sz="2900" dirty="0" err="1">
                <a:solidFill>
                  <a:schemeClr val="tx1"/>
                </a:solidFill>
                <a:latin typeface="Times New Roman" panose="02020603050405020304" pitchFamily="18" charset="0"/>
                <a:cs typeface="Times New Roman" panose="02020603050405020304" pitchFamily="18" charset="0"/>
              </a:rPr>
              <a:t>B.Bhavya</a:t>
            </a:r>
            <a:r>
              <a:rPr lang="en-US" sz="2900" dirty="0">
                <a:solidFill>
                  <a:schemeClr val="tx1"/>
                </a:solidFill>
                <a:latin typeface="Times New Roman" panose="02020603050405020304" pitchFamily="18" charset="0"/>
                <a:cs typeface="Times New Roman" panose="02020603050405020304" pitchFamily="18" charset="0"/>
              </a:rPr>
              <a:t>        (23R01A6672)</a:t>
            </a:r>
          </a:p>
          <a:p>
            <a:pPr algn="l"/>
            <a:r>
              <a:rPr lang="en-US" sz="2900" dirty="0">
                <a:solidFill>
                  <a:schemeClr val="tx1"/>
                </a:solidFill>
                <a:latin typeface="Times New Roman" panose="02020603050405020304" pitchFamily="18" charset="0"/>
                <a:cs typeface="Times New Roman" panose="02020603050405020304" pitchFamily="18" charset="0"/>
              </a:rPr>
              <a:t>                 3. T.V.DEEPAK  (23R01A66B9)</a:t>
            </a:r>
            <a:r>
              <a:rPr lang="en-US" dirty="0">
                <a:solidFill>
                  <a:schemeClr val="tx1"/>
                </a:solidFill>
              </a:rPr>
              <a:t>      </a:t>
            </a:r>
          </a:p>
        </p:txBody>
      </p:sp>
      <p:sp>
        <p:nvSpPr>
          <p:cNvPr id="4" name="Subtitle 2"/>
          <p:cNvSpPr txBox="1"/>
          <p:nvPr/>
        </p:nvSpPr>
        <p:spPr>
          <a:xfrm>
            <a:off x="5562600" y="3816626"/>
            <a:ext cx="3200400" cy="1898374"/>
          </a:xfrm>
          <a:prstGeom prst="rect">
            <a:avLst/>
          </a:prstGeom>
        </p:spPr>
        <p:txBody>
          <a:bodyPr vert="horz" lIns="91440" tIns="45720" rIns="91440" bIns="45720" rtlCol="0">
            <a:normAutofit fontScale="55000" lnSpcReduction="20000"/>
          </a:bodyPr>
          <a:lstStyle/>
          <a:p>
            <a:pPr lvl="1" algn="ctr">
              <a:spcBef>
                <a:spcPct val="20000"/>
              </a:spcBef>
              <a:defRPr/>
            </a:pPr>
            <a:r>
              <a:rPr kumimoji="0" lang="en-US" sz="33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Under the Guidance of</a:t>
            </a:r>
          </a:p>
          <a:p>
            <a:pPr lvl="1" algn="ctr">
              <a:spcBef>
                <a:spcPct val="20000"/>
              </a:spcBef>
              <a:defRPr/>
            </a:pPr>
            <a:r>
              <a:rPr lang="en-US" sz="3300">
                <a:latin typeface="Times New Roman" panose="02020603050405020304" pitchFamily="18" charset="0"/>
                <a:cs typeface="Times New Roman" panose="02020603050405020304" pitchFamily="18" charset="0"/>
              </a:rPr>
              <a:t>         B</a:t>
            </a:r>
            <a:r>
              <a:rPr lang="en-US" sz="3300" dirty="0" err="1">
                <a:latin typeface="Times New Roman" panose="02020603050405020304" pitchFamily="18" charset="0"/>
                <a:cs typeface="Times New Roman" panose="02020603050405020304" pitchFamily="18" charset="0"/>
              </a:rPr>
              <a:t>.Anil</a:t>
            </a:r>
            <a:r>
              <a:rPr lang="en-US" sz="3300" dirty="0">
                <a:latin typeface="Times New Roman" panose="02020603050405020304" pitchFamily="18" charset="0"/>
                <a:cs typeface="Times New Roman" panose="02020603050405020304" pitchFamily="18" charset="0"/>
              </a:rPr>
              <a:t> Kumar</a:t>
            </a:r>
          </a:p>
          <a:p>
            <a:pPr lvl="1" algn="ctr">
              <a:spcBef>
                <a:spcPct val="20000"/>
              </a:spcBef>
              <a:defRPr/>
            </a:pPr>
            <a:r>
              <a:rPr kumimoji="0" lang="en-US" sz="33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Assistant Professor</a:t>
            </a:r>
          </a:p>
          <a:p>
            <a:pPr lvl="1" algn="ctr">
              <a:spcBef>
                <a:spcPct val="20000"/>
              </a:spcBef>
              <a:defRPr/>
            </a:pPr>
            <a:r>
              <a:rPr lang="en-US" sz="3300" dirty="0">
                <a:latin typeface="Times New Roman" panose="02020603050405020304" pitchFamily="18" charset="0"/>
                <a:cs typeface="Times New Roman" panose="02020603050405020304" pitchFamily="18" charset="0"/>
              </a:rPr>
              <a:t>        CSE(AI&amp;ML)</a:t>
            </a:r>
          </a:p>
          <a:p>
            <a:pPr lvl="1" algn="ctr">
              <a:spcBef>
                <a:spcPct val="20000"/>
              </a:spcBef>
              <a:defRPr/>
            </a:pPr>
            <a:r>
              <a:rPr kumimoji="0" lang="en-US" sz="33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kumimoji="0" lang="en-US" sz="3300" b="0" i="0" u="none" strike="noStrike" kern="1200" cap="none" spc="0" normalizeH="0" baseline="0" noProof="0" dirty="0" err="1">
                <a:ln>
                  <a:noFill/>
                </a:ln>
                <a:solidFill>
                  <a:schemeClr val="tx1"/>
                </a:solidFill>
                <a:effectLst/>
                <a:uLnTx/>
                <a:uFillTx/>
                <a:latin typeface="Times New Roman" panose="02020603050405020304" pitchFamily="18" charset="0"/>
                <a:cs typeface="Times New Roman" panose="02020603050405020304" pitchFamily="18" charset="0"/>
              </a:rPr>
              <a:t>CMRIT,Hyderabad</a:t>
            </a:r>
            <a:endParaRPr kumimoji="0" lang="en-US" sz="33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dirty="0">
                <a:latin typeface="Times New Roman" panose="02020603050405020304" pitchFamily="18" charset="0"/>
                <a:cs typeface="Times New Roman" panose="02020603050405020304" pitchFamily="18" charset="0"/>
              </a:rPr>
              <a:t>          </a:t>
            </a:r>
            <a:endParaRPr kumimoji="0" lang="en-US"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pic>
        <p:nvPicPr>
          <p:cNvPr id="6" name="Picture 5" descr="cropped-CMR-IT-logo-1.jpg"/>
          <p:cNvPicPr>
            <a:picLocks noChangeAspect="1"/>
          </p:cNvPicPr>
          <p:nvPr/>
        </p:nvPicPr>
        <p:blipFill>
          <a:blip r:embed="rId2"/>
          <a:stretch>
            <a:fillRect/>
          </a:stretch>
        </p:blipFill>
        <p:spPr>
          <a:xfrm>
            <a:off x="1143000" y="381000"/>
            <a:ext cx="6832600" cy="11221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A7637D-A9C8-439A-730D-E3FE6C1794F4}"/>
              </a:ext>
            </a:extLst>
          </p:cNvPr>
          <p:cNvSpPr>
            <a:spLocks noGrp="1"/>
          </p:cNvSpPr>
          <p:nvPr>
            <p:ph idx="1"/>
          </p:nvPr>
        </p:nvSpPr>
        <p:spPr>
          <a:xfrm>
            <a:off x="457200" y="152400"/>
            <a:ext cx="8229600" cy="5973763"/>
          </a:xfrm>
        </p:spPr>
        <p:txBody>
          <a:bodyPr/>
          <a:lstStyle/>
          <a:p>
            <a:pPr marL="0" indent="0" algn="ctr">
              <a:buNone/>
            </a:pPr>
            <a:r>
              <a:rPr lang="en-US" sz="3600" u="sng" dirty="0">
                <a:latin typeface="Times New Roman" panose="02020603050405020304" pitchFamily="18" charset="0"/>
                <a:cs typeface="Times New Roman" panose="02020603050405020304" pitchFamily="18" charset="0"/>
              </a:rPr>
              <a:t>OUTLINES:</a:t>
            </a:r>
            <a:endParaRPr lang="en-IN" sz="3600" u="sng"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Abstract </a:t>
            </a:r>
          </a:p>
          <a:p>
            <a:pPr marL="0" indent="0">
              <a:buNone/>
            </a:pPr>
            <a:r>
              <a:rPr lang="en-IN" dirty="0">
                <a:latin typeface="Times New Roman" panose="02020603050405020304" pitchFamily="18" charset="0"/>
                <a:cs typeface="Times New Roman" panose="02020603050405020304" pitchFamily="18" charset="0"/>
              </a:rPr>
              <a:t>Problem statement</a:t>
            </a:r>
          </a:p>
          <a:p>
            <a:pPr marL="0" indent="0">
              <a:buNone/>
            </a:pPr>
            <a:r>
              <a:rPr lang="en-IN" dirty="0">
                <a:latin typeface="Times New Roman" panose="02020603050405020304" pitchFamily="18" charset="0"/>
                <a:cs typeface="Times New Roman" panose="02020603050405020304" pitchFamily="18" charset="0"/>
              </a:rPr>
              <a:t>Introduction</a:t>
            </a:r>
          </a:p>
          <a:p>
            <a:pPr marL="0" indent="0">
              <a:buNone/>
            </a:pPr>
            <a:r>
              <a:rPr lang="en-IN" dirty="0">
                <a:latin typeface="Times New Roman" panose="02020603050405020304" pitchFamily="18" charset="0"/>
                <a:cs typeface="Times New Roman" panose="02020603050405020304" pitchFamily="18" charset="0"/>
              </a:rPr>
              <a:t>Literature Review</a:t>
            </a:r>
          </a:p>
          <a:p>
            <a:pPr marL="0" indent="0">
              <a:buNone/>
            </a:pPr>
            <a:endParaRPr lang="en-US" dirty="0"/>
          </a:p>
        </p:txBody>
      </p:sp>
    </p:spTree>
    <p:extLst>
      <p:ext uri="{BB962C8B-B14F-4D97-AF65-F5344CB8AC3E}">
        <p14:creationId xmlns:p14="http://schemas.microsoft.com/office/powerpoint/2010/main" val="4258238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457200"/>
          </a:xfrm>
        </p:spPr>
        <p:txBody>
          <a:bodyPr>
            <a:noAutofit/>
          </a:bodyPr>
          <a:lstStyle/>
          <a:p>
            <a:r>
              <a:rPr lang="en-US" sz="3600"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457200" y="1600200"/>
            <a:ext cx="8229600" cy="4876800"/>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Accurate demand forecasting helps businesses optimize inventory, staffing, and resource planning. This project proposes a Multi-Horizon Time-Series Forecasting system that predicts multiple future time steps using ARIMA, Prophet, Temporal Fusion Transformer (TFT), and </a:t>
            </a:r>
            <a:r>
              <a:rPr lang="en-US" sz="2400" dirty="0" err="1">
                <a:latin typeface="Times New Roman" panose="02020603050405020304" pitchFamily="18" charset="0"/>
                <a:cs typeface="Times New Roman" panose="02020603050405020304" pitchFamily="18" charset="0"/>
              </a:rPr>
              <a:t>DeepAR</a:t>
            </a:r>
            <a:r>
              <a:rPr lang="en-US" sz="2400" dirty="0">
                <a:latin typeface="Times New Roman" panose="02020603050405020304" pitchFamily="18" charset="0"/>
                <a:cs typeface="Times New Roman" panose="02020603050405020304" pitchFamily="18" charset="0"/>
              </a:rPr>
              <a:t>. The system incorporates seasonality and external factors such as holidays and promotions, with data preprocessing, feature engineering, model training, and </a:t>
            </a:r>
            <a:r>
              <a:rPr lang="en-US" sz="2400" dirty="0" err="1">
                <a:latin typeface="Times New Roman" panose="02020603050405020304" pitchFamily="18" charset="0"/>
                <a:cs typeface="Times New Roman" panose="02020603050405020304" pitchFamily="18" charset="0"/>
              </a:rPr>
              <a:t>backtesting</a:t>
            </a:r>
            <a:r>
              <a:rPr lang="en-US" sz="2400" dirty="0">
                <a:latin typeface="Times New Roman" panose="02020603050405020304" pitchFamily="18" charset="0"/>
                <a:cs typeface="Times New Roman" panose="02020603050405020304" pitchFamily="18" charset="0"/>
              </a:rPr>
              <a:t>. Performance is evaluated using MAPE and RMSE to improve forecasting accuracy and planning efficiency</a:t>
            </a:r>
          </a:p>
        </p:txBody>
      </p:sp>
      <p:pic>
        <p:nvPicPr>
          <p:cNvPr id="4" name="Picture 3" descr="cmrity.jpg"/>
          <p:cNvPicPr>
            <a:picLocks noChangeAspect="1"/>
          </p:cNvPicPr>
          <p:nvPr/>
        </p:nvPicPr>
        <p:blipFill>
          <a:blip r:embed="rId2"/>
          <a:stretch>
            <a:fillRect/>
          </a:stretch>
        </p:blipFill>
        <p:spPr>
          <a:xfrm>
            <a:off x="7620000" y="152400"/>
            <a:ext cx="914400" cy="91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B6CBD-C024-2738-3183-0D6EE6C3DEB0}"/>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Problem Statement</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506F7C-3118-84E0-551B-7677E8118E52}"/>
              </a:ext>
            </a:extLst>
          </p:cNvPr>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Enterprises rely heavily on accurate forecasting to make critical decisions related to inventory, staffing, and revenue planning. However, most existing forecasting systems predict only a single future time step, making them ineffective for simultaneous short-term operational planning and long-term strategic decision-making. Traditional statistical models also struggle to capture complex seasonal patterns, sudden demand shifts, and external influencing factors such as holidays and promotions, resulting in inconsistent and unreliable predictions across different planning horizons. This creates a need for a unified forecasting system capable of generating accurate, multi-horizon predictions to support better business decision-making.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022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10C0-FCE0-AF6D-FC31-186DC94E0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5D9AA-7A15-09C8-8F75-D94D036D973C}"/>
              </a:ext>
            </a:extLst>
          </p:cNvPr>
          <p:cNvSpPr>
            <a:spLocks noGrp="1"/>
          </p:cNvSpPr>
          <p:nvPr>
            <p:ph type="title"/>
          </p:nvPr>
        </p:nvSpPr>
        <p:spPr>
          <a:xfrm>
            <a:off x="381000" y="381000"/>
            <a:ext cx="8229600" cy="838200"/>
          </a:xfrm>
        </p:spPr>
        <p:txBody>
          <a:bodyPr>
            <a:normAutofit/>
          </a:bodyPr>
          <a:lstStyle/>
          <a:p>
            <a:r>
              <a:rPr lang="en-US" sz="36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6DEF2029-F379-5089-CF01-B141C1B47C94}"/>
              </a:ext>
            </a:extLst>
          </p:cNvPr>
          <p:cNvSpPr>
            <a:spLocks noGrp="1"/>
          </p:cNvSpPr>
          <p:nvPr>
            <p:ph idx="1"/>
          </p:nvPr>
        </p:nvSpPr>
        <p:spPr>
          <a:xfrm>
            <a:off x="457200" y="1447800"/>
            <a:ext cx="8229600" cy="4678363"/>
          </a:xfrm>
        </p:spPr>
        <p:txBody>
          <a:bodyPr>
            <a:normAutofit fontScale="85000" lnSpcReduction="10000"/>
          </a:bodyPr>
          <a:lstStyle/>
          <a:p>
            <a:r>
              <a:rPr lang="en-US" sz="2800" dirty="0">
                <a:latin typeface="Times New Roman" panose="02020603050405020304" pitchFamily="18" charset="0"/>
                <a:cs typeface="Times New Roman" panose="02020603050405020304" pitchFamily="18" charset="0"/>
              </a:rPr>
              <a:t>Every day, businesses collect huge amounts of data — sales, orders, website visits, and stock levels. Since this data changes over time, it's called time-series data. Predicting what will happen next using this data is called forecasting, and it helps businesses plan ahead instead of reacting late.</a:t>
            </a:r>
          </a:p>
          <a:p>
            <a:r>
              <a:rPr lang="en-US" sz="2800" dirty="0">
                <a:latin typeface="Times New Roman" panose="02020603050405020304" pitchFamily="18" charset="0"/>
                <a:cs typeface="Times New Roman" panose="02020603050405020304" pitchFamily="18" charset="0"/>
              </a:rPr>
              <a:t>Most forecasting tools today only predict one point in the future, like tomorrow's sales. But real businesses need predictions for many time periods at once — tomorrow, next month, and next quarter — and all these should match each other, not be separate guesses.</a:t>
            </a:r>
          </a:p>
          <a:p>
            <a:r>
              <a:rPr lang="en-US" sz="2800" dirty="0">
                <a:latin typeface="Times New Roman" panose="02020603050405020304" pitchFamily="18" charset="0"/>
                <a:cs typeface="Times New Roman" panose="02020603050405020304" pitchFamily="18" charset="0"/>
              </a:rPr>
              <a:t>This project builds a system that predicts short-term, medium-term, and long-term results all at once, using a single model, so the predictions stay consistent.</a:t>
            </a:r>
          </a:p>
          <a:p>
            <a:pPr marL="0" indent="0">
              <a:buNone/>
            </a:pPr>
            <a:endParaRPr lang="en-US" sz="2800" dirty="0">
              <a:latin typeface="Times New Roman" panose="02020603050405020304" pitchFamily="18" charset="0"/>
              <a:cs typeface="Times New Roman" panose="02020603050405020304" pitchFamily="18" charset="0"/>
            </a:endParaRPr>
          </a:p>
        </p:txBody>
      </p:sp>
      <p:pic>
        <p:nvPicPr>
          <p:cNvPr id="4" name="Picture 3" descr="cmrity.jpg">
            <a:extLst>
              <a:ext uri="{FF2B5EF4-FFF2-40B4-BE49-F238E27FC236}">
                <a16:creationId xmlns:a16="http://schemas.microsoft.com/office/drawing/2014/main" id="{28CC370A-5A04-C1FF-B4A6-9D74ABAFB4F0}"/>
              </a:ext>
            </a:extLst>
          </p:cNvPr>
          <p:cNvPicPr>
            <a:picLocks noChangeAspect="1"/>
          </p:cNvPicPr>
          <p:nvPr/>
        </p:nvPicPr>
        <p:blipFill>
          <a:blip r:embed="rId2"/>
          <a:stretch>
            <a:fillRect/>
          </a:stretch>
        </p:blipFill>
        <p:spPr>
          <a:xfrm>
            <a:off x="7620000" y="152400"/>
            <a:ext cx="914400" cy="914400"/>
          </a:xfrm>
          <a:prstGeom prst="rect">
            <a:avLst/>
          </a:prstGeom>
        </p:spPr>
      </p:pic>
    </p:spTree>
    <p:extLst>
      <p:ext uri="{BB962C8B-B14F-4D97-AF65-F5344CB8AC3E}">
        <p14:creationId xmlns:p14="http://schemas.microsoft.com/office/powerpoint/2010/main" val="811432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8EEFAC-1125-46F5-9858-7D0D616CE433}"/>
              </a:ext>
            </a:extLst>
          </p:cNvPr>
          <p:cNvSpPr>
            <a:spLocks noGrp="1"/>
          </p:cNvSpPr>
          <p:nvPr>
            <p:ph idx="1"/>
          </p:nvPr>
        </p:nvSpPr>
        <p:spPr>
          <a:xfrm>
            <a:off x="457200" y="381000"/>
            <a:ext cx="8229600" cy="5745163"/>
          </a:xfrm>
        </p:spPr>
        <p:txBody>
          <a:bodyPr>
            <a:normAutofit/>
          </a:bodyPr>
          <a:lstStyle/>
          <a:p>
            <a:r>
              <a:rPr lang="en-US" sz="2400" dirty="0">
                <a:latin typeface="Times New Roman" panose="02020603050405020304" pitchFamily="18" charset="0"/>
                <a:cs typeface="Times New Roman" panose="02020603050405020304" pitchFamily="18" charset="0"/>
              </a:rPr>
              <a:t>Earlier, businesses used simple methods like ARIMA, but these struggle with complex patterns and sudden changes like holidays or discounts. Later, machine learning models like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became popular for handling more complex data.</a:t>
            </a:r>
          </a:p>
          <a:p>
            <a:r>
              <a:rPr lang="en-US" sz="2400" dirty="0">
                <a:latin typeface="Times New Roman" panose="02020603050405020304" pitchFamily="18" charset="0"/>
                <a:cs typeface="Times New Roman" panose="02020603050405020304" pitchFamily="18" charset="0"/>
              </a:rPr>
              <a:t>Now, deep learning models like </a:t>
            </a:r>
            <a:r>
              <a:rPr lang="en-US" sz="2400" dirty="0" err="1">
                <a:latin typeface="Times New Roman" panose="02020603050405020304" pitchFamily="18" charset="0"/>
                <a:cs typeface="Times New Roman" panose="02020603050405020304" pitchFamily="18" charset="0"/>
              </a:rPr>
              <a:t>DeepAR</a:t>
            </a:r>
            <a:r>
              <a:rPr lang="en-US" sz="2400" dirty="0">
                <a:latin typeface="Times New Roman" panose="02020603050405020304" pitchFamily="18" charset="0"/>
                <a:cs typeface="Times New Roman" panose="02020603050405020304" pitchFamily="18" charset="0"/>
              </a:rPr>
              <a:t> and Temporal Fusion Transformer (TFT) are used because they understand complicated patterns better and can forecast many products at once.</a:t>
            </a:r>
          </a:p>
          <a:p>
            <a:r>
              <a:rPr lang="en-US" sz="2400" dirty="0">
                <a:latin typeface="Times New Roman" panose="02020603050405020304" pitchFamily="18" charset="0"/>
                <a:cs typeface="Times New Roman" panose="02020603050405020304" pitchFamily="18" charset="0"/>
              </a:rPr>
              <a:t>A key idea in this project is multi-horizon forecasting — instead of separate models for each time period, we use one model to predict all periods together. This is faster and keeps results consistent. But a real system also needs to collect data, retrain itself, monitor accuracy, and show results on simple dashboards.</a:t>
            </a:r>
          </a:p>
          <a:p>
            <a:endParaRPr lang="en-US" dirty="0"/>
          </a:p>
        </p:txBody>
      </p:sp>
    </p:spTree>
    <p:extLst>
      <p:ext uri="{BB962C8B-B14F-4D97-AF65-F5344CB8AC3E}">
        <p14:creationId xmlns:p14="http://schemas.microsoft.com/office/powerpoint/2010/main" val="2959844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378332-79CC-4E61-A0A0-5D5763D4BCD6}"/>
              </a:ext>
            </a:extLst>
          </p:cNvPr>
          <p:cNvSpPr>
            <a:spLocks noGrp="1"/>
          </p:cNvSpPr>
          <p:nvPr>
            <p:ph idx="1"/>
          </p:nvPr>
        </p:nvSpPr>
        <p:spPr>
          <a:xfrm>
            <a:off x="457200" y="304800"/>
            <a:ext cx="8229600" cy="5821363"/>
          </a:xfrm>
        </p:spPr>
        <p:txBody>
          <a:bodyPr>
            <a:normAutofit/>
          </a:bodyPr>
          <a:lstStyle/>
          <a:p>
            <a:r>
              <a:rPr lang="en-US" sz="2400" dirty="0">
                <a:latin typeface="Times New Roman" panose="02020603050405020304" pitchFamily="18" charset="0"/>
                <a:cs typeface="Times New Roman" panose="02020603050405020304" pitchFamily="18" charset="0"/>
              </a:rPr>
              <a:t>This project builds a complete forecasting system, not just a model — covering data collection, cleaning, training, and deployment.</a:t>
            </a:r>
          </a:p>
          <a:p>
            <a:r>
              <a:rPr lang="en-US" sz="2400" dirty="0">
                <a:latin typeface="Times New Roman" panose="02020603050405020304" pitchFamily="18" charset="0"/>
                <a:cs typeface="Times New Roman" panose="02020603050405020304" pitchFamily="18" charset="0"/>
              </a:rPr>
              <a:t>We combine traditional and deep learning methods so the system works well on different types of data, including sudden spikes from promotions or seasons. Since it predicts short, medium, and long-term together, businesses can use one system for both daily and long-term decisions.</a:t>
            </a:r>
          </a:p>
          <a:p>
            <a:r>
              <a:rPr lang="en-US" sz="2400" dirty="0">
                <a:latin typeface="Times New Roman" panose="02020603050405020304" pitchFamily="18" charset="0"/>
                <a:cs typeface="Times New Roman" panose="02020603050405020304" pitchFamily="18" charset="0"/>
              </a:rPr>
              <a:t>We also make it practical for real use — the pipeline runs automatically, alerts when accuracy drops, and shows results on easy dashboards for non-technical users.</a:t>
            </a:r>
          </a:p>
          <a:p>
            <a:r>
              <a:rPr lang="en-US" sz="2400" dirty="0">
                <a:latin typeface="Times New Roman" panose="02020603050405020304" pitchFamily="18" charset="0"/>
                <a:cs typeface="Times New Roman" panose="02020603050405020304" pitchFamily="18" charset="0"/>
              </a:rPr>
              <a:t>Overall, this project shows how a good forecasting system helps businesses reduce wastage and plan better</a:t>
            </a:r>
            <a:r>
              <a:rPr lang="en-US" sz="2800" dirty="0"/>
              <a:t>.</a:t>
            </a:r>
          </a:p>
          <a:p>
            <a:endParaRPr lang="en-US" dirty="0"/>
          </a:p>
        </p:txBody>
      </p:sp>
    </p:spTree>
    <p:extLst>
      <p:ext uri="{BB962C8B-B14F-4D97-AF65-F5344CB8AC3E}">
        <p14:creationId xmlns:p14="http://schemas.microsoft.com/office/powerpoint/2010/main" val="3579337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8600"/>
            <a:ext cx="8229600" cy="731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IN" sz="2600" b="0" strike="noStrike" spc="-1" dirty="0">
                <a:solidFill>
                  <a:srgbClr val="000000"/>
                </a:solidFill>
                <a:latin typeface="Times New Roman" panose="02020603050405020304"/>
                <a:ea typeface="DejaVu Sans"/>
              </a:rPr>
              <a:t>LITERATURE REVIEW</a:t>
            </a:r>
            <a:endParaRPr lang="en-IN" sz="2800" b="0" strike="noStrike" spc="-1" dirty="0">
              <a:latin typeface="Arial" panose="020B0604020202020204"/>
            </a:endParaRPr>
          </a:p>
        </p:txBody>
      </p:sp>
      <p:graphicFrame>
        <p:nvGraphicFramePr>
          <p:cNvPr id="5" name="Table 4"/>
          <p:cNvGraphicFramePr>
            <a:graphicFrameLocks noGrp="1"/>
          </p:cNvGraphicFramePr>
          <p:nvPr>
            <p:extLst>
              <p:ext uri="{D42A27DB-BD31-4B8C-83A1-F6EECF244321}">
                <p14:modId xmlns:p14="http://schemas.microsoft.com/office/powerpoint/2010/main" val="1350220563"/>
              </p:ext>
            </p:extLst>
          </p:nvPr>
        </p:nvGraphicFramePr>
        <p:xfrm>
          <a:off x="304800" y="960120"/>
          <a:ext cx="8610599" cy="5516880"/>
        </p:xfrm>
        <a:graphic>
          <a:graphicData uri="http://schemas.openxmlformats.org/drawingml/2006/table">
            <a:tbl>
              <a:tblPr firstRow="1" bandRow="1">
                <a:tableStyleId>{5C22544A-7EE6-4342-B048-85BDC9FD1C3A}</a:tableStyleId>
              </a:tblPr>
              <a:tblGrid>
                <a:gridCol w="275539">
                  <a:extLst>
                    <a:ext uri="{9D8B030D-6E8A-4147-A177-3AD203B41FA5}">
                      <a16:colId xmlns:a16="http://schemas.microsoft.com/office/drawing/2014/main" val="20000"/>
                    </a:ext>
                  </a:extLst>
                </a:gridCol>
                <a:gridCol w="1291590">
                  <a:extLst>
                    <a:ext uri="{9D8B030D-6E8A-4147-A177-3AD203B41FA5}">
                      <a16:colId xmlns:a16="http://schemas.microsoft.com/office/drawing/2014/main" val="20001"/>
                    </a:ext>
                  </a:extLst>
                </a:gridCol>
                <a:gridCol w="275539">
                  <a:extLst>
                    <a:ext uri="{9D8B030D-6E8A-4147-A177-3AD203B41FA5}">
                      <a16:colId xmlns:a16="http://schemas.microsoft.com/office/drawing/2014/main" val="20002"/>
                    </a:ext>
                  </a:extLst>
                </a:gridCol>
                <a:gridCol w="990219">
                  <a:extLst>
                    <a:ext uri="{9D8B030D-6E8A-4147-A177-3AD203B41FA5}">
                      <a16:colId xmlns:a16="http://schemas.microsoft.com/office/drawing/2014/main" val="20003"/>
                    </a:ext>
                  </a:extLst>
                </a:gridCol>
                <a:gridCol w="1205484">
                  <a:extLst>
                    <a:ext uri="{9D8B030D-6E8A-4147-A177-3AD203B41FA5}">
                      <a16:colId xmlns:a16="http://schemas.microsoft.com/office/drawing/2014/main" val="20004"/>
                    </a:ext>
                  </a:extLst>
                </a:gridCol>
                <a:gridCol w="1119378">
                  <a:extLst>
                    <a:ext uri="{9D8B030D-6E8A-4147-A177-3AD203B41FA5}">
                      <a16:colId xmlns:a16="http://schemas.microsoft.com/office/drawing/2014/main" val="20005"/>
                    </a:ext>
                  </a:extLst>
                </a:gridCol>
                <a:gridCol w="1334643">
                  <a:extLst>
                    <a:ext uri="{9D8B030D-6E8A-4147-A177-3AD203B41FA5}">
                      <a16:colId xmlns:a16="http://schemas.microsoft.com/office/drawing/2014/main" val="20006"/>
                    </a:ext>
                  </a:extLst>
                </a:gridCol>
                <a:gridCol w="2118207">
                  <a:extLst>
                    <a:ext uri="{9D8B030D-6E8A-4147-A177-3AD203B41FA5}">
                      <a16:colId xmlns:a16="http://schemas.microsoft.com/office/drawing/2014/main" val="20007"/>
                    </a:ext>
                  </a:extLst>
                </a:gridCol>
              </a:tblGrid>
              <a:tr h="353441">
                <a:tc>
                  <a:txBody>
                    <a:bodyPr/>
                    <a:lstStyle/>
                    <a:p>
                      <a:pPr algn="ctr">
                        <a:lnSpc>
                          <a:spcPct val="100000"/>
                        </a:lnSpc>
                      </a:pPr>
                      <a:r>
                        <a:rPr sz="850" b="1">
                          <a:solidFill>
                            <a:srgbClr val="FFFFFF"/>
                          </a:solidFill>
                          <a:latin typeface="Calibri"/>
                        </a:rPr>
                        <a:t>S.No</a:t>
                      </a:r>
                    </a:p>
                  </a:txBody>
                  <a:tcPr marL="18288" marR="18288" marT="18288" marB="18288" anchor="ctr">
                    <a:solidFill>
                      <a:srgbClr val="1F497D"/>
                    </a:solidFill>
                  </a:tcPr>
                </a:tc>
                <a:tc>
                  <a:txBody>
                    <a:bodyPr/>
                    <a:lstStyle/>
                    <a:p>
                      <a:pPr algn="l">
                        <a:lnSpc>
                          <a:spcPct val="100000"/>
                        </a:lnSpc>
                      </a:pPr>
                      <a:r>
                        <a:rPr sz="850" b="1">
                          <a:solidFill>
                            <a:srgbClr val="FFFFFF"/>
                          </a:solidFill>
                          <a:latin typeface="Calibri"/>
                        </a:rPr>
                        <a:t>Title of Paper</a:t>
                      </a:r>
                    </a:p>
                  </a:txBody>
                  <a:tcPr marL="18288" marR="18288" marT="18288" marB="18288" anchor="ctr">
                    <a:solidFill>
                      <a:srgbClr val="1F497D"/>
                    </a:solidFill>
                  </a:tcPr>
                </a:tc>
                <a:tc>
                  <a:txBody>
                    <a:bodyPr/>
                    <a:lstStyle/>
                    <a:p>
                      <a:pPr algn="ctr">
                        <a:lnSpc>
                          <a:spcPct val="100000"/>
                        </a:lnSpc>
                      </a:pPr>
                      <a:r>
                        <a:rPr sz="850" b="1">
                          <a:solidFill>
                            <a:srgbClr val="FFFFFF"/>
                          </a:solidFill>
                          <a:latin typeface="Calibri"/>
                        </a:rPr>
                        <a:t>Year</a:t>
                      </a:r>
                    </a:p>
                  </a:txBody>
                  <a:tcPr marL="18288" marR="18288" marT="18288" marB="18288" anchor="ctr">
                    <a:solidFill>
                      <a:srgbClr val="1F497D"/>
                    </a:solidFill>
                  </a:tcPr>
                </a:tc>
                <a:tc>
                  <a:txBody>
                    <a:bodyPr/>
                    <a:lstStyle/>
                    <a:p>
                      <a:pPr algn="l">
                        <a:lnSpc>
                          <a:spcPct val="100000"/>
                        </a:lnSpc>
                      </a:pPr>
                      <a:r>
                        <a:rPr sz="850" b="1">
                          <a:solidFill>
                            <a:srgbClr val="FFFFFF"/>
                          </a:solidFill>
                          <a:latin typeface="Calibri"/>
                        </a:rPr>
                        <a:t>Authors</a:t>
                      </a:r>
                    </a:p>
                  </a:txBody>
                  <a:tcPr marL="18288" marR="18288" marT="18288" marB="18288" anchor="ctr">
                    <a:solidFill>
                      <a:srgbClr val="1F497D"/>
                    </a:solidFill>
                  </a:tcPr>
                </a:tc>
                <a:tc>
                  <a:txBody>
                    <a:bodyPr/>
                    <a:lstStyle/>
                    <a:p>
                      <a:pPr algn="l">
                        <a:lnSpc>
                          <a:spcPct val="100000"/>
                        </a:lnSpc>
                      </a:pPr>
                      <a:r>
                        <a:rPr sz="850" b="1">
                          <a:solidFill>
                            <a:srgbClr val="FFFFFF"/>
                          </a:solidFill>
                          <a:latin typeface="Calibri"/>
                        </a:rPr>
                        <a:t>Methodology / Algorithm</a:t>
                      </a:r>
                    </a:p>
                  </a:txBody>
                  <a:tcPr marL="18288" marR="18288" marT="18288" marB="18288" anchor="ctr">
                    <a:solidFill>
                      <a:srgbClr val="1F497D"/>
                    </a:solidFill>
                  </a:tcPr>
                </a:tc>
                <a:tc>
                  <a:txBody>
                    <a:bodyPr/>
                    <a:lstStyle/>
                    <a:p>
                      <a:pPr algn="l">
                        <a:lnSpc>
                          <a:spcPct val="100000"/>
                        </a:lnSpc>
                      </a:pPr>
                      <a:r>
                        <a:rPr sz="850" b="1">
                          <a:solidFill>
                            <a:srgbClr val="FFFFFF"/>
                          </a:solidFill>
                          <a:latin typeface="Calibri"/>
                        </a:rPr>
                        <a:t>Objective</a:t>
                      </a:r>
                    </a:p>
                  </a:txBody>
                  <a:tcPr marL="18288" marR="18288" marT="18288" marB="18288" anchor="ctr">
                    <a:solidFill>
                      <a:srgbClr val="1F497D"/>
                    </a:solidFill>
                  </a:tcPr>
                </a:tc>
                <a:tc>
                  <a:txBody>
                    <a:bodyPr/>
                    <a:lstStyle/>
                    <a:p>
                      <a:pPr algn="l">
                        <a:lnSpc>
                          <a:spcPct val="100000"/>
                        </a:lnSpc>
                      </a:pPr>
                      <a:r>
                        <a:rPr sz="850" b="1">
                          <a:solidFill>
                            <a:srgbClr val="FFFFFF"/>
                          </a:solidFill>
                          <a:latin typeface="Calibri"/>
                        </a:rPr>
                        <a:t>Limitation</a:t>
                      </a:r>
                    </a:p>
                  </a:txBody>
                  <a:tcPr marL="18288" marR="18288" marT="18288" marB="18288" anchor="ctr">
                    <a:solidFill>
                      <a:srgbClr val="1F497D"/>
                    </a:solidFill>
                  </a:tcPr>
                </a:tc>
                <a:tc>
                  <a:txBody>
                    <a:bodyPr/>
                    <a:lstStyle/>
                    <a:p>
                      <a:pPr algn="l">
                        <a:lnSpc>
                          <a:spcPct val="100000"/>
                        </a:lnSpc>
                      </a:pPr>
                      <a:r>
                        <a:rPr sz="850" b="1">
                          <a:solidFill>
                            <a:srgbClr val="FFFFFF"/>
                          </a:solidFill>
                          <a:latin typeface="Calibri"/>
                        </a:rPr>
                        <a:t>How Proposed Work Addresses It</a:t>
                      </a:r>
                    </a:p>
                  </a:txBody>
                  <a:tcPr marL="18288" marR="18288" marT="18288" marB="18288" anchor="ctr">
                    <a:solidFill>
                      <a:srgbClr val="1F497D"/>
                    </a:solidFill>
                  </a:tcPr>
                </a:tc>
                <a:extLst>
                  <a:ext uri="{0D108BD9-81ED-4DB2-BD59-A6C34878D82A}">
                    <a16:rowId xmlns:a16="http://schemas.microsoft.com/office/drawing/2014/main" val="10000"/>
                  </a:ext>
                </a:extLst>
              </a:tr>
              <a:tr h="501305">
                <a:tc>
                  <a:txBody>
                    <a:bodyPr/>
                    <a:lstStyle/>
                    <a:p>
                      <a:pPr algn="ctr">
                        <a:lnSpc>
                          <a:spcPct val="95000"/>
                        </a:lnSpc>
                      </a:pPr>
                      <a:r>
                        <a:rPr sz="700" b="1">
                          <a:solidFill>
                            <a:srgbClr val="333333"/>
                          </a:solidFill>
                          <a:latin typeface="Calibri"/>
                        </a:rPr>
                        <a:t>1</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A Novel Encoder-Decoder Model for Multivariate Time Series Forecasting</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2022</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Huihui Zhang et al.</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GRU Encoder-Decoder, Attention, Residual connections</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Improve multivariate forecasting.</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Single advanced architecture; limited business-oriented comparison.</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Compare statistical + ML + DL models across multiple horizons.</a:t>
                      </a:r>
                    </a:p>
                  </a:txBody>
                  <a:tcPr marL="18288" marR="18288" marT="18288" marB="18288" anchor="ctr">
                    <a:solidFill>
                      <a:srgbClr val="FFFFFF"/>
                    </a:solidFill>
                  </a:tcPr>
                </a:tc>
                <a:extLst>
                  <a:ext uri="{0D108BD9-81ED-4DB2-BD59-A6C34878D82A}">
                    <a16:rowId xmlns:a16="http://schemas.microsoft.com/office/drawing/2014/main" val="10001"/>
                  </a:ext>
                </a:extLst>
              </a:tr>
              <a:tr h="451174">
                <a:tc>
                  <a:txBody>
                    <a:bodyPr/>
                    <a:lstStyle/>
                    <a:p>
                      <a:pPr algn="ctr">
                        <a:lnSpc>
                          <a:spcPct val="95000"/>
                        </a:lnSpc>
                      </a:pPr>
                      <a:r>
                        <a:rPr sz="700" b="1">
                          <a:solidFill>
                            <a:srgbClr val="333333"/>
                          </a:solidFill>
                          <a:latin typeface="Calibri"/>
                        </a:rPr>
                        <a:t>2</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Fuzzy Inference-Based LSTM for Long-Term Time Series Prediction</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2023</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Weina Wang et al.</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Fuzzy Inference + LSTM</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Improve long-term forecasting accuracy and interpretability.</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Mainly LSTM-focused; limited enterprise/business evaluation.</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Add model comparison + business-impact evaluation.</a:t>
                      </a:r>
                    </a:p>
                  </a:txBody>
                  <a:tcPr marL="18288" marR="18288" marT="18288" marB="18288" anchor="ctr">
                    <a:solidFill>
                      <a:srgbClr val="EAF1FA"/>
                    </a:solidFill>
                  </a:tcPr>
                </a:tc>
                <a:extLst>
                  <a:ext uri="{0D108BD9-81ED-4DB2-BD59-A6C34878D82A}">
                    <a16:rowId xmlns:a16="http://schemas.microsoft.com/office/drawing/2014/main" val="10002"/>
                  </a:ext>
                </a:extLst>
              </a:tr>
              <a:tr h="973963">
                <a:tc>
                  <a:txBody>
                    <a:bodyPr/>
                    <a:lstStyle/>
                    <a:p>
                      <a:pPr algn="ctr">
                        <a:lnSpc>
                          <a:spcPct val="95000"/>
                        </a:lnSpc>
                      </a:pPr>
                      <a:r>
                        <a:rPr sz="700" b="1">
                          <a:solidFill>
                            <a:srgbClr val="333333"/>
                          </a:solidFill>
                          <a:latin typeface="Calibri"/>
                        </a:rPr>
                        <a:t>3</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Improving Long-Term Multivariate Time Series Forecasting with a Seasonal-Trend Decomposition-Based 2D Temporal Convolution Dense Network</a:t>
                      </a:r>
                    </a:p>
                  </a:txBody>
                  <a:tcPr marL="18288" marR="18288" marT="18288" marB="18288" anchor="ctr">
                    <a:solidFill>
                      <a:srgbClr val="FFFFFF"/>
                    </a:solidFill>
                  </a:tcPr>
                </a:tc>
                <a:tc>
                  <a:txBody>
                    <a:bodyPr/>
                    <a:lstStyle/>
                    <a:p>
                      <a:pPr algn="l">
                        <a:lnSpc>
                          <a:spcPct val="95000"/>
                        </a:lnSpc>
                      </a:pPr>
                      <a:r>
                        <a:rPr sz="700" b="0" dirty="0">
                          <a:solidFill>
                            <a:srgbClr val="333333"/>
                          </a:solidFill>
                          <a:latin typeface="Calibri"/>
                        </a:rPr>
                        <a:t>2024</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Jianhua Hao, Fangai Liu</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Seasonal-Trend Decomposition + 2D Temporal Convolution + Dense Network</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Improve long-term multivariate forecasting by capturing temporal patterns.</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Complex DL architecture; limited focus on simplicity and deployment.</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Balance accuracy, interpretability and computational cost, with deployment considerations.</a:t>
                      </a:r>
                    </a:p>
                  </a:txBody>
                  <a:tcPr marL="18288" marR="18288" marT="18288" marB="18288" anchor="ctr">
                    <a:solidFill>
                      <a:srgbClr val="FFFFFF"/>
                    </a:solidFill>
                  </a:tcPr>
                </a:tc>
                <a:extLst>
                  <a:ext uri="{0D108BD9-81ED-4DB2-BD59-A6C34878D82A}">
                    <a16:rowId xmlns:a16="http://schemas.microsoft.com/office/drawing/2014/main" val="10003"/>
                  </a:ext>
                </a:extLst>
              </a:tr>
              <a:tr h="529951">
                <a:tc>
                  <a:txBody>
                    <a:bodyPr/>
                    <a:lstStyle/>
                    <a:p>
                      <a:pPr algn="ctr">
                        <a:lnSpc>
                          <a:spcPct val="95000"/>
                        </a:lnSpc>
                      </a:pPr>
                      <a:r>
                        <a:rPr sz="700" b="1">
                          <a:solidFill>
                            <a:srgbClr val="333333"/>
                          </a:solidFill>
                          <a:latin typeface="Calibri"/>
                        </a:rPr>
                        <a:t>4</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Learning Evolving Relations for Multivariate Time Series Forecasting</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2024</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Binh Nguyen-Thai et al.</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ERAN + Evolving Graph + Temporal Attention Convolution</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Capture evolving inter- and intra-variable relationships.</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Advanced architecture; limited practical model-selection perspective.</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Select models based on horizon-wise performance and business requirements.</a:t>
                      </a:r>
                    </a:p>
                  </a:txBody>
                  <a:tcPr marL="18288" marR="18288" marT="18288" marB="18288" anchor="ctr">
                    <a:solidFill>
                      <a:srgbClr val="EAF1FA"/>
                    </a:solidFill>
                  </a:tcPr>
                </a:tc>
                <a:extLst>
                  <a:ext uri="{0D108BD9-81ED-4DB2-BD59-A6C34878D82A}">
                    <a16:rowId xmlns:a16="http://schemas.microsoft.com/office/drawing/2014/main" val="10004"/>
                  </a:ext>
                </a:extLst>
              </a:tr>
              <a:tr h="1059902">
                <a:tc>
                  <a:txBody>
                    <a:bodyPr/>
                    <a:lstStyle/>
                    <a:p>
                      <a:pPr algn="ctr">
                        <a:lnSpc>
                          <a:spcPct val="95000"/>
                        </a:lnSpc>
                      </a:pPr>
                      <a:r>
                        <a:rPr sz="700" b="1">
                          <a:solidFill>
                            <a:srgbClr val="333333"/>
                          </a:solidFill>
                          <a:latin typeface="Calibri"/>
                        </a:rPr>
                        <a:t>5</a:t>
                      </a:r>
                    </a:p>
                  </a:txBody>
                  <a:tcPr marL="18288" marR="18288" marT="18288" marB="18288" anchor="ctr">
                    <a:solidFill>
                      <a:srgbClr val="FFFFFF"/>
                    </a:solidFill>
                  </a:tcPr>
                </a:tc>
                <a:tc>
                  <a:txBody>
                    <a:bodyPr/>
                    <a:lstStyle/>
                    <a:p>
                      <a:pPr algn="l">
                        <a:lnSpc>
                          <a:spcPct val="95000"/>
                        </a:lnSpc>
                      </a:pPr>
                      <a:r>
                        <a:rPr sz="700" b="0" dirty="0">
                          <a:solidFill>
                            <a:srgbClr val="333333"/>
                          </a:solidFill>
                          <a:latin typeface="Calibri"/>
                        </a:rPr>
                        <a:t>A Demand Forecasting System of Product Categories Defined by Their Time Series Using a Hybrid Approach of Ensemble Learning with Feature Engineering</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2024</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Santiago Mejía, Jose Aguilar</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Time-series feature engineering + clustering + ML forecasting + ensemble learning</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Improve retail product-demand forecasting by grouping products with similar demand behavior.</a:t>
                      </a:r>
                    </a:p>
                  </a:txBody>
                  <a:tcPr marL="18288" marR="18288" marT="18288" marB="18288" anchor="ctr">
                    <a:solidFill>
                      <a:srgbClr val="FFFFFF"/>
                    </a:solidFill>
                  </a:tcPr>
                </a:tc>
                <a:tc>
                  <a:txBody>
                    <a:bodyPr/>
                    <a:lstStyle/>
                    <a:p>
                      <a:pPr algn="l">
                        <a:lnSpc>
                          <a:spcPct val="95000"/>
                        </a:lnSpc>
                      </a:pPr>
                      <a:r>
                        <a:rPr sz="700" b="0" dirty="0">
                          <a:solidFill>
                            <a:srgbClr val="333333"/>
                          </a:solidFill>
                          <a:latin typeface="Calibri"/>
                        </a:rPr>
                        <a:t>Focuses mainly on retail demand and ensemble ML; limited comparison with advanced DL and multiple enterprise horizons.</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Extend to multi-horizon enterprise forecasting using statistical, ML and DL models.</a:t>
                      </a:r>
                    </a:p>
                  </a:txBody>
                  <a:tcPr marL="18288" marR="18288" marT="18288" marB="18288" anchor="ctr">
                    <a:solidFill>
                      <a:srgbClr val="FFFFFF"/>
                    </a:solidFill>
                  </a:tcPr>
                </a:tc>
                <a:extLst>
                  <a:ext uri="{0D108BD9-81ED-4DB2-BD59-A6C34878D82A}">
                    <a16:rowId xmlns:a16="http://schemas.microsoft.com/office/drawing/2014/main" val="10005"/>
                  </a:ext>
                </a:extLst>
              </a:tr>
              <a:tr h="708988">
                <a:tc>
                  <a:txBody>
                    <a:bodyPr/>
                    <a:lstStyle/>
                    <a:p>
                      <a:pPr algn="ctr">
                        <a:lnSpc>
                          <a:spcPct val="95000"/>
                        </a:lnSpc>
                      </a:pPr>
                      <a:r>
                        <a:rPr sz="700" b="1">
                          <a:solidFill>
                            <a:srgbClr val="333333"/>
                          </a:solidFill>
                          <a:latin typeface="Calibri"/>
                        </a:rPr>
                        <a:t>6</a:t>
                      </a:r>
                    </a:p>
                  </a:txBody>
                  <a:tcPr marL="18288" marR="18288" marT="18288" marB="18288" anchor="ctr">
                    <a:solidFill>
                      <a:srgbClr val="EAF1FA"/>
                    </a:solidFill>
                  </a:tcPr>
                </a:tc>
                <a:tc>
                  <a:txBody>
                    <a:bodyPr/>
                    <a:lstStyle/>
                    <a:p>
                      <a:pPr algn="l">
                        <a:lnSpc>
                          <a:spcPct val="95000"/>
                        </a:lnSpc>
                      </a:pPr>
                      <a:r>
                        <a:rPr sz="700" b="0" dirty="0">
                          <a:solidFill>
                            <a:srgbClr val="333333"/>
                          </a:solidFill>
                          <a:latin typeface="Calibri"/>
                        </a:rPr>
                        <a:t>A Multiscale Model for Multivariate Time Series Forecasting</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2025</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Vahid Naghashi, Mounir Boukadoum, Abdoulaye Banire Diallo</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Multiscale Transformer-based forecasting</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Capture patterns at different temporal scales and inter-series relationships.</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Primarily focuses on a multiscale deep-learning architecture rather than practical model selection.</a:t>
                      </a:r>
                    </a:p>
                  </a:txBody>
                  <a:tcPr marL="18288" marR="18288" marT="18288" marB="18288" anchor="ctr">
                    <a:solidFill>
                      <a:srgbClr val="EAF1FA"/>
                    </a:solidFill>
                  </a:tcPr>
                </a:tc>
                <a:tc>
                  <a:txBody>
                    <a:bodyPr/>
                    <a:lstStyle/>
                    <a:p>
                      <a:pPr algn="l">
                        <a:lnSpc>
                          <a:spcPct val="95000"/>
                        </a:lnSpc>
                      </a:pPr>
                      <a:r>
                        <a:rPr sz="700" b="0">
                          <a:solidFill>
                            <a:srgbClr val="333333"/>
                          </a:solidFill>
                          <a:latin typeface="Calibri"/>
                        </a:rPr>
                        <a:t>Compare simple and complex models using multi-horizon backtesting and computational cost.</a:t>
                      </a:r>
                    </a:p>
                  </a:txBody>
                  <a:tcPr marL="18288" marR="18288" marT="18288" marB="18288" anchor="ctr">
                    <a:solidFill>
                      <a:srgbClr val="EAF1FA"/>
                    </a:solidFill>
                  </a:tcPr>
                </a:tc>
                <a:extLst>
                  <a:ext uri="{0D108BD9-81ED-4DB2-BD59-A6C34878D82A}">
                    <a16:rowId xmlns:a16="http://schemas.microsoft.com/office/drawing/2014/main" val="10006"/>
                  </a:ext>
                </a:extLst>
              </a:tr>
              <a:tr h="938156">
                <a:tc>
                  <a:txBody>
                    <a:bodyPr/>
                    <a:lstStyle/>
                    <a:p>
                      <a:pPr algn="ctr">
                        <a:lnSpc>
                          <a:spcPct val="95000"/>
                        </a:lnSpc>
                      </a:pPr>
                      <a:r>
                        <a:rPr sz="700" b="1">
                          <a:solidFill>
                            <a:srgbClr val="333333"/>
                          </a:solidFill>
                          <a:latin typeface="Calibri"/>
                        </a:rPr>
                        <a:t>7</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Adaptive Demand Forecasting Framework with Weighted Ensemble of Regression and Machine Learning Models Along Life Cycle Variability</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2025</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Islam M. Hammam, Amin K. El-Kharbotly, Yomna M. Sadek</a:t>
                      </a:r>
                    </a:p>
                  </a:txBody>
                  <a:tcPr marL="18288" marR="18288" marT="18288" marB="18288" anchor="ctr">
                    <a:solidFill>
                      <a:srgbClr val="FFFFFF"/>
                    </a:solidFill>
                  </a:tcPr>
                </a:tc>
                <a:tc>
                  <a:txBody>
                    <a:bodyPr/>
                    <a:lstStyle/>
                    <a:p>
                      <a:pPr algn="l">
                        <a:lnSpc>
                          <a:spcPct val="95000"/>
                        </a:lnSpc>
                      </a:pPr>
                      <a:r>
                        <a:rPr sz="700" b="0" dirty="0">
                          <a:solidFill>
                            <a:srgbClr val="333333"/>
                          </a:solidFill>
                          <a:latin typeface="Calibri"/>
                        </a:rPr>
                        <a:t>ARIMA-based Regression + </a:t>
                      </a:r>
                      <a:r>
                        <a:rPr sz="700" b="0" dirty="0" err="1">
                          <a:solidFill>
                            <a:srgbClr val="333333"/>
                          </a:solidFill>
                          <a:latin typeface="Calibri"/>
                        </a:rPr>
                        <a:t>XGBoost</a:t>
                      </a:r>
                      <a:r>
                        <a:rPr sz="700" b="0" dirty="0">
                          <a:solidFill>
                            <a:srgbClr val="333333"/>
                          </a:solidFill>
                          <a:latin typeface="Calibri"/>
                        </a:rPr>
                        <a:t> + Weighted Average Ensemble</a:t>
                      </a:r>
                    </a:p>
                  </a:txBody>
                  <a:tcPr marL="18288" marR="18288" marT="18288" marB="18288" anchor="ctr">
                    <a:solidFill>
                      <a:srgbClr val="FFFFFF"/>
                    </a:solidFill>
                  </a:tcPr>
                </a:tc>
                <a:tc>
                  <a:txBody>
                    <a:bodyPr/>
                    <a:lstStyle/>
                    <a:p>
                      <a:pPr algn="l">
                        <a:lnSpc>
                          <a:spcPct val="95000"/>
                        </a:lnSpc>
                      </a:pPr>
                      <a:r>
                        <a:rPr sz="700" b="0" dirty="0">
                          <a:solidFill>
                            <a:srgbClr val="333333"/>
                          </a:solidFill>
                          <a:latin typeface="Calibri"/>
                        </a:rPr>
                        <a:t>Forecast demand under different product life-cycle patterns.</a:t>
                      </a:r>
                    </a:p>
                  </a:txBody>
                  <a:tcPr marL="18288" marR="18288" marT="18288" marB="18288" anchor="ctr">
                    <a:solidFill>
                      <a:srgbClr val="FFFFFF"/>
                    </a:solidFill>
                  </a:tcPr>
                </a:tc>
                <a:tc>
                  <a:txBody>
                    <a:bodyPr/>
                    <a:lstStyle/>
                    <a:p>
                      <a:pPr algn="l">
                        <a:lnSpc>
                          <a:spcPct val="95000"/>
                        </a:lnSpc>
                      </a:pPr>
                      <a:r>
                        <a:rPr sz="700" b="0">
                          <a:solidFill>
                            <a:srgbClr val="333333"/>
                          </a:solidFill>
                          <a:latin typeface="Calibri"/>
                        </a:rPr>
                        <a:t>Focuses on ARIMA/XGBoost ensemble and product life cycle; broader multi-horizon model comparison is limited.</a:t>
                      </a:r>
                    </a:p>
                  </a:txBody>
                  <a:tcPr marL="18288" marR="18288" marT="18288" marB="18288" anchor="ctr">
                    <a:solidFill>
                      <a:srgbClr val="FFFFFF"/>
                    </a:solidFill>
                  </a:tcPr>
                </a:tc>
                <a:tc>
                  <a:txBody>
                    <a:bodyPr/>
                    <a:lstStyle/>
                    <a:p>
                      <a:pPr algn="l">
                        <a:lnSpc>
                          <a:spcPct val="95000"/>
                        </a:lnSpc>
                      </a:pPr>
                      <a:r>
                        <a:rPr sz="700" b="0" dirty="0">
                          <a:solidFill>
                            <a:srgbClr val="333333"/>
                          </a:solidFill>
                          <a:latin typeface="Calibri"/>
                        </a:rPr>
                        <a:t>Compare ARIMA/Prophet, </a:t>
                      </a:r>
                      <a:r>
                        <a:rPr sz="700" b="0" dirty="0" err="1">
                          <a:solidFill>
                            <a:srgbClr val="333333"/>
                          </a:solidFill>
                          <a:latin typeface="Calibri"/>
                        </a:rPr>
                        <a:t>LightGBM</a:t>
                      </a:r>
                      <a:r>
                        <a:rPr sz="700" b="0" dirty="0">
                          <a:solidFill>
                            <a:srgbClr val="333333"/>
                          </a:solidFill>
                          <a:latin typeface="Calibri"/>
                        </a:rPr>
                        <a:t> and optional N-BEATS/TFT across different horizons and evaluate business impact.</a:t>
                      </a:r>
                    </a:p>
                  </a:txBody>
                  <a:tcPr marL="18288" marR="18288" marT="18288" marB="18288"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90800"/>
            <a:ext cx="8229600" cy="1143000"/>
          </a:xfrm>
        </p:spPr>
        <p:txBody>
          <a:bodyPr/>
          <a:lstStyle/>
          <a:p>
            <a:r>
              <a:rPr lang="en-US" dirty="0">
                <a:latin typeface="Times New Roman" panose="02020603050405020304" pitchFamily="18" charset="0"/>
                <a:cs typeface="Times New Roman" panose="02020603050405020304" pitchFamily="18" charset="0"/>
              </a:rPr>
              <a:t>Thank You</a:t>
            </a:r>
          </a:p>
        </p:txBody>
      </p:sp>
      <p:pic>
        <p:nvPicPr>
          <p:cNvPr id="3" name="Picture 2" descr="cmrity.jpg"/>
          <p:cNvPicPr>
            <a:picLocks noChangeAspect="1"/>
          </p:cNvPicPr>
          <p:nvPr/>
        </p:nvPicPr>
        <p:blipFill>
          <a:blip r:embed="rId2"/>
          <a:stretch>
            <a:fillRect/>
          </a:stretch>
        </p:blipFill>
        <p:spPr>
          <a:xfrm>
            <a:off x="7620000" y="152400"/>
            <a:ext cx="9144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892</TotalTime>
  <Words>1106</Words>
  <Application>Microsoft Office PowerPoint</Application>
  <PresentationFormat>On-screen Show (4:3)</PresentationFormat>
  <Paragraphs>98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DejaVu Sans</vt:lpstr>
      <vt:lpstr>Times New Roman</vt:lpstr>
      <vt:lpstr>Office Theme</vt:lpstr>
      <vt:lpstr>Multi-Scale Weather Forecasting Using Deep Learning Architectures With Chennai Climate Data Department of CSE(AI and ML)</vt:lpstr>
      <vt:lpstr>PowerPoint Presentation</vt:lpstr>
      <vt:lpstr>ABSTRACT</vt:lpstr>
      <vt:lpstr>Problem Statement</vt:lpstr>
      <vt:lpstr>INTRODUCTION</vt:lpstr>
      <vt:lpstr>PowerPoint Presentation</vt:lpstr>
      <vt:lpstr>PowerPoint Presentation</vt:lpstr>
      <vt:lpstr>LITERATURE REVIEW</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Project</dc:title>
  <dc:creator>student</dc:creator>
  <cp:lastModifiedBy>DELL</cp:lastModifiedBy>
  <cp:revision>45</cp:revision>
  <dcterms:created xsi:type="dcterms:W3CDTF">2024-09-26T06:08:00Z</dcterms:created>
  <dcterms:modified xsi:type="dcterms:W3CDTF">2026-08-12T16:20:15Z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743B5E490E4F4CDD9A26841D39D74D9F_12</vt:lpwstr>
  </property>
  <property fmtid="{D5CDD505-2E9C-101B-9397-08002B2CF9AE}" pid="3" name="KSOProductBuildVer">
    <vt:lpwstr>1033-12.2.0.17562</vt:lpwstr>
  </property>
</Properties>
</file>